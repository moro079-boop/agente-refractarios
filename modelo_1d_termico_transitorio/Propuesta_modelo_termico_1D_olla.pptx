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 resistencia</c:v>
                </c:pt>
              </c:strCache>
            </c:strRef>
          </c:tx>
          <c:spPr>
            <a:solidFill>
              <a:srgbClr val="4C6B7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413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Trabajo</c:v>
                  </c:pt>
                  <c:pt idx="1">
                    <c:v>2 Junta</c:v>
                  </c:pt>
                  <c:pt idx="2">
                    <c:v>3 Seguridad</c:v>
                  </c:pt>
                  <c:pt idx="3">
                    <c:v>4 Aislante</c:v>
                  </c:pt>
                  <c:pt idx="4">
                    <c:v>5 Coraza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11.2</c:v>
                </c:pt>
                <c:pt idx="1">
                  <c:v>5</c:v>
                </c:pt>
                <c:pt idx="2">
                  <c:v>26.5</c:v>
                </c:pt>
                <c:pt idx="3">
                  <c:v>57.3</c:v>
                </c:pt>
                <c:pt idx="4">
                  <c:v>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la capacidad térmica</c:v>
                </c:pt>
              </c:strCache>
            </c:strRef>
          </c:tx>
          <c:spPr>
            <a:solidFill>
              <a:srgbClr val="C43D1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413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Trabajo</c:v>
                  </c:pt>
                  <c:pt idx="1">
                    <c:v>2 Junta</c:v>
                  </c:pt>
                  <c:pt idx="2">
                    <c:v>3 Seguridad</c:v>
                  </c:pt>
                  <c:pt idx="3">
                    <c:v>4 Aislante</c:v>
                  </c:pt>
                  <c:pt idx="4">
                    <c:v>5 Coraza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63.7</c:v>
                </c:pt>
                <c:pt idx="1">
                  <c:v>4.4</c:v>
                </c:pt>
                <c:pt idx="2">
                  <c:v>29.8</c:v>
                </c:pt>
                <c:pt idx="3">
                  <c:v>0.7</c:v>
                </c:pt>
                <c:pt idx="4">
                  <c:v>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413A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13A3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DCD7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0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13A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 (°C)</c:v>
                </c:pt>
              </c:strCache>
            </c:strRef>
          </c:tx>
          <c:spPr>
            <a:solidFill>
              <a:srgbClr val="C43D16"/>
            </a:solidFill>
            <a:ln w="38100" cap="flat">
              <a:solidFill>
                <a:srgbClr val="C43D1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43D16"/>
              </a:solidFill>
              <a:ln w="9525" cap="flat">
                <a:solidFill>
                  <a:srgbClr val="C43D16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127</c:v>
                </c:pt>
                <c:pt idx="2">
                  <c:v>139.5</c:v>
                </c:pt>
                <c:pt idx="3">
                  <c:v>215.5</c:v>
                </c:pt>
                <c:pt idx="4">
                  <c:v>228.5</c:v>
                </c:pt>
                <c:pt idx="5">
                  <c:v>230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1551</c:v>
                </c:pt>
                <c:pt idx="1">
                  <c:v>1409</c:v>
                </c:pt>
                <c:pt idx="2">
                  <c:v>1349</c:v>
                </c:pt>
                <c:pt idx="3">
                  <c:v>1043</c:v>
                </c:pt>
                <c:pt idx="4">
                  <c:v>376</c:v>
                </c:pt>
                <c:pt idx="5">
                  <c:v>375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3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8706A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78706A"/>
                    </a:solidFill>
                    <a:latin typeface="Calibri"/>
                  </a:rPr>
                  <a:t>Espesor acumulado desde la cara caliente (mm)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0"/>
      </c:valAx>
      <c:valAx>
        <c:axId val="2094734552"/>
        <c:scaling>
          <c:orientation val="minMax"/>
          <c:max val="1700"/>
          <c:min val="0"/>
        </c:scaling>
        <c:delete val="0"/>
        <c:axPos val="l"/>
        <c:majorGridlines>
          <c:spPr>
            <a:ln w="12700" cap="flat">
              <a:solidFill>
                <a:srgbClr val="DCD7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8706A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78706A"/>
                    </a:solidFill>
                    <a:latin typeface="Calibri"/>
                  </a:rPr>
                  <a:t>Temperatura (°C)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0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40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Cara fría — coraza (°C)</c:v>
                </c:pt>
              </c:strCache>
            </c:strRef>
          </c:tx>
          <c:spPr>
            <a:solidFill>
              <a:srgbClr val="4C6B79"/>
            </a:solidFill>
            <a:ln w="38100" cap="flat">
              <a:solidFill>
                <a:srgbClr val="4C6B7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C6B79"/>
              </a:solidFill>
              <a:ln w="9525" cap="flat">
                <a:solidFill>
                  <a:srgbClr val="4C6B79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0.08</c:v>
                </c:pt>
                <c:pt idx="1">
                  <c:v>0.1</c:v>
                </c:pt>
                <c:pt idx="2">
                  <c:v>0.12</c:v>
                </c:pt>
                <c:pt idx="3">
                  <c:v>0.147</c:v>
                </c:pt>
                <c:pt idx="4">
                  <c:v>0.16</c:v>
                </c:pt>
                <c:pt idx="5">
                  <c:v>0.19</c:v>
                </c:pt>
                <c:pt idx="6">
                  <c:v>0.22</c:v>
                </c:pt>
                <c:pt idx="7">
                  <c:v>0.25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284</c:v>
                </c:pt>
                <c:pt idx="1">
                  <c:v>318</c:v>
                </c:pt>
                <c:pt idx="2">
                  <c:v>345</c:v>
                </c:pt>
                <c:pt idx="3">
                  <c:v>375</c:v>
                </c:pt>
                <c:pt idx="4">
                  <c:v>388</c:v>
                </c:pt>
                <c:pt idx="5">
                  <c:v>413</c:v>
                </c:pt>
                <c:pt idx="6">
                  <c:v>433</c:v>
                </c:pt>
                <c:pt idx="7">
                  <c:v>450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Interfaz seguridad / aislante (°C)</c:v>
                </c:pt>
              </c:strCache>
            </c:strRef>
          </c:tx>
          <c:spPr>
            <a:solidFill>
              <a:srgbClr val="E8A33C"/>
            </a:solidFill>
            <a:ln w="38100" cap="flat">
              <a:solidFill>
                <a:srgbClr val="E8A33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8A33C"/>
              </a:solidFill>
              <a:ln w="9525" cap="flat">
                <a:solidFill>
                  <a:srgbClr val="E8A33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0.08</c:v>
                </c:pt>
                <c:pt idx="1">
                  <c:v>0.1</c:v>
                </c:pt>
                <c:pt idx="2">
                  <c:v>0.12</c:v>
                </c:pt>
                <c:pt idx="3">
                  <c:v>0.147</c:v>
                </c:pt>
                <c:pt idx="4">
                  <c:v>0.16</c:v>
                </c:pt>
                <c:pt idx="5">
                  <c:v>0.19</c:v>
                </c:pt>
                <c:pt idx="6">
                  <c:v>0.22</c:v>
                </c:pt>
                <c:pt idx="7">
                  <c:v>0.25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1181</c:v>
                </c:pt>
                <c:pt idx="1">
                  <c:v>1130</c:v>
                </c:pt>
                <c:pt idx="2">
                  <c:v>1088</c:v>
                </c:pt>
                <c:pt idx="3">
                  <c:v>1043</c:v>
                </c:pt>
                <c:pt idx="4">
                  <c:v>1023</c:v>
                </c:pt>
                <c:pt idx="5">
                  <c:v>985</c:v>
                </c:pt>
                <c:pt idx="6">
                  <c:v>954</c:v>
                </c:pt>
                <c:pt idx="7">
                  <c:v>928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7"/>
          <c:min val="0.06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8706A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78706A"/>
                    </a:solidFill>
                    <a:latin typeface="Calibri"/>
                  </a:rPr>
                  <a:t>k del aislante (W/m·K)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87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300"/>
          <c:min val="200"/>
        </c:scaling>
        <c:delete val="0"/>
        <c:axPos val="l"/>
        <c:majorGridlines>
          <c:spPr>
            <a:ln w="12700" cap="flat">
              <a:solidFill>
                <a:srgbClr val="DCD7D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870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13A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propuesta. El proyecto ya tiene una versión V0 concluida (estacionario en Excel) y las fichas técnicas de las cuatro capas cerámicas recibidas el 18-19 de agosto. Lo que se presenta hoy es el plan para llevarlo a modelo transitorio en Python y responder la pregunta operativa: cuánto hay que precalentar.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números vienen del libro v3.1: la curva de enfriamiento de la hoja 07 y el producto R"·C" de la hoja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aislante controla la pérdida pero casi no almacena; la capa de trabajo almacena casi todo pero casi no resiste. Por eso el enfriamiento es lento aunque la superficie caiga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caída se concentra en el aislante (630 °C en 13 mm). Nota: es una cota superior — durante el colado la olla no llega al estacionario. Se declara como limitación y se sustituye cuando exista el modelo del ciclo (V3).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Herramientas: Python con NumPy, Matplotlib y Pandas, TDMA propio. Nueve módulos, datos separados del código, cada propiedad con su fuente y su estado. Control de versiones en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 (espesor variable con el número de coladas) queda fuera de este plan: entra solo si V1 a V3 cierran antes de lo previsto. El compromiso que se presenta es V0 a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colada instrumentada el modelo se reporta como verificado, no validado. Máximo 2-3 parámetros de calibración, en el orden: resistencia de contacto, emisividad y h exterior, k del aislante.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carpeta del proyecto tiene los 20 PDF completos más los documentos generados: propuesta de inicio, fundamentos teóricos, requisitos y metodología, y la bibliografía comentada.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térmico transitorio 1D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revestimiento de olla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y plan de desarrollo · 23 ago – 10 dic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definir el tiempo mínimo de precalentamiento que evita choque térmico, enfriamiento del acero e infiltración por apertura de juntas.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Adán Molina Martínez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Metalurgia y Fundición · Instituto Tecnológico de Saltillo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6025065" cy="457200"/>
          </a:xfrm>
          <a:prstGeom prst="rect">
            <a:avLst/>
          </a:prstGeom>
          <a:solidFill>
            <a:srgbClr val="D64518"/>
          </a:solidFill>
          <a:ln/>
        </p:spPr>
      </p:sp>
      <p:sp>
        <p:nvSpPr>
          <p:cNvPr id="7" name="Shape 5"/>
          <p:cNvSpPr/>
          <p:nvPr/>
        </p:nvSpPr>
        <p:spPr>
          <a:xfrm>
            <a:off x="6665145" y="5486400"/>
            <a:ext cx="593018" cy="457200"/>
          </a:xfrm>
          <a:prstGeom prst="rect">
            <a:avLst/>
          </a:prstGeom>
          <a:solidFill>
            <a:srgbClr val="E07B22"/>
          </a:solidFill>
          <a:ln/>
        </p:spPr>
      </p:sp>
      <p:sp>
        <p:nvSpPr>
          <p:cNvPr id="8" name="Shape 6"/>
          <p:cNvSpPr/>
          <p:nvPr/>
        </p:nvSpPr>
        <p:spPr>
          <a:xfrm>
            <a:off x="7258163" y="5486400"/>
            <a:ext cx="3605551" cy="457200"/>
          </a:xfrm>
          <a:prstGeom prst="rect">
            <a:avLst/>
          </a:prstGeom>
          <a:solidFill>
            <a:srgbClr val="E8A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863714" y="5486400"/>
            <a:ext cx="616739" cy="457200"/>
          </a:xfrm>
          <a:prstGeom prst="rect">
            <a:avLst/>
          </a:prstGeom>
          <a:solidFill>
            <a:srgbClr val="8FA6B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80453" y="5486400"/>
            <a:ext cx="71162" cy="457200"/>
          </a:xfrm>
          <a:prstGeom prst="rect">
            <a:avLst/>
          </a:prstGeom>
          <a:solidFill>
            <a:srgbClr val="4C6B79"/>
          </a:solidFill>
          <a:ln/>
        </p:spPr>
      </p:sp>
      <p:sp>
        <p:nvSpPr>
          <p:cNvPr id="11" name="Text 9"/>
          <p:cNvSpPr/>
          <p:nvPr/>
        </p:nvSpPr>
        <p:spPr>
          <a:xfrm>
            <a:off x="3506309" y="5175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5350" y="5175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14635" y="5175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25780" y="5175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9730" y="5175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Trabajo MgO-C 127 mm   ·   2 Junta de sello 12.5   ·   3 Seguridad Al₂O₃-SiO₂ 76   ·   4 Aislante vermiculita 13   ·   5 Coraza acero 1.5   ·   total 230 mm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pirómetro ve la superficie. La inercia está en el fondo.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cara caliente y el conjunto del revestimiento responden en escalas de tiempo que no son comparables. El pirómetro solo lee la superficie: una olla puede marcar 1100 °C con la interfaz trabajo/seguridad muy por debajo, y ese desfase es lo que produce las fallas.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24912"/>
            <a:ext cx="420624" cy="420624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6974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térmico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30083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gradiente en la cara caliente al recibir acero excede el ΔT crítico del ladrillo.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420624" cy="420624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37216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Enfriamiento del acero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revestimiento frío absorbe energía del baño y obliga a recalentar en horno cuchara.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4745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Infiltración por juntas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50566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revestimiento frío no cierra las juntas; el acero líquido penetra hacia la coraza.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1371600"/>
            <a:ext cx="4187952" cy="1691640"/>
          </a:xfrm>
          <a:prstGeom prst="roundRect">
            <a:avLst>
              <a:gd name="adj" fmla="val 4324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0" y="15361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43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min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680960" y="23591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tarda la cara caliente en caer de 1551 a 992 °C con la olla vacía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3337560"/>
            <a:ext cx="4187952" cy="1691640"/>
          </a:xfrm>
          <a:prstGeom prst="roundRect">
            <a:avLst>
              <a:gd name="adj" fmla="val 4324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3502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C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h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680960" y="43251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constante de tiempo τ = R″·C″ del revestimiento completo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534924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≈ 100 entre las dos escalas. Un criterio de precalentado basado solo en la lectura de superficie no puede ser correcto.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batería detrás de una válvula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de resistencia y de capacidad térmica por capa, evaluado a 800 °C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9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resistencia térmica está en 13 mm de vermiculita: el aislante es la válvula.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00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3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867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energía almacenada está en la capa de trabajo de 127 mm: es la batería.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43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dos capas críticas tiene k medida.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conductividad del aislante viene de literatura y la de la junta de un solo punto de ficha. Son el objetivo prioritario del levantamiento de datos.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92040" y="146304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 concluido: el perfil de partida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Estacionario cilíndrico multicapa con olla llena — cota superior del perfil al fin de colado, que es la condición inicial del enfriamiento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72768"/>
          <a:ext cx="72237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704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caliente 1551  ·  trabajo / junta 1409  ·  junta / seguridad 1349  ·  seguridad / aislante 1043  ·  coraza 375 °C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001000" y="1645920"/>
            <a:ext cx="3547872" cy="1051560"/>
          </a:xfrm>
          <a:prstGeom prst="roundRect">
            <a:avLst>
              <a:gd name="adj" fmla="val 6957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7532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8 810 W/m²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148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 la cara caliente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2816352"/>
            <a:ext cx="3547872" cy="1051560"/>
          </a:xfrm>
          <a:prstGeom prst="roundRect">
            <a:avLst>
              <a:gd name="adj" fmla="val 6957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75320" y="29077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 kW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75320" y="33192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por la pared en 3 m de altura útil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3986784"/>
            <a:ext cx="3547872" cy="1051560"/>
          </a:xfrm>
          <a:prstGeom prst="roundRect">
            <a:avLst>
              <a:gd name="adj" fmla="val 6957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75320" y="4078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3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 °C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4489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coraza, dentro de la banda esperada de 250–400 °C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5285232"/>
            <a:ext cx="3547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cp(T) por regla de Neumann-Kopp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capas cerámicas ya tienen cp(T) calculado desde el análisis químico de ficha, verificado contra el límite de Dulong-Petit (exceso 3.9–5.2 %, el esperable por dilatación anarmónica). Incertidumbre ±3–5 % frente a DSC.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construye el modelo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ρ(T)·cp(T)·∂T/∂t = (1/r)·∂/∂r [ r·k(T)·∂T/∂r ]   —   seis decisiones ya fijadas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92224"/>
            <a:ext cx="310896" cy="310896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finito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Caras de celda alineadas con las interfaces. Conserva la energía entre capas de k muy distinta (Patankar, 1980).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157276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92224"/>
            <a:ext cx="310896" cy="310896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11496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Implícito + TDMA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231136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explícito exigiría Δt de fracciones de segundo por la coraza (α = 5.0 × 10⁻⁶ m²/s). Sin límite de estabilidad.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1572768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1792224"/>
            <a:ext cx="310896" cy="310896"/>
          </a:xfrm>
          <a:prstGeom prst="ellipse">
            <a:avLst/>
          </a:prstGeom>
          <a:solidFill>
            <a:srgbClr val="C43D16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24544" y="17922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cilíndrica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22208" y="2231136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interfaz seguridad/aislante la media aritmética da 0.83 contra 0.25 W/m·K: factor 3.3 de error silencioso.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21024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840480"/>
            <a:ext cx="310896" cy="310896"/>
          </a:xfrm>
          <a:prstGeom prst="ellipse">
            <a:avLst/>
          </a:prstGeom>
          <a:solidFill>
            <a:srgbClr val="4C6B79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Radiación de cavidad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427939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ε_ef = F = r/(2H+r) = 0.18. Tratar la pared como superficie desnuda sobreestima la pérdida unas 5 veces.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53128" y="3621024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840480"/>
            <a:ext cx="310896" cy="310896"/>
          </a:xfrm>
          <a:prstGeom prst="ellipse">
            <a:avLst/>
          </a:prstGeom>
          <a:solidFill>
            <a:srgbClr val="4C6B7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11496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radiativa por paso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427939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h_r cae de 74 a 13 W/m²K entre 1551 y 700 °C. Un h constante no reproduce el enfriamiento; 2–3 iteraciones, tol. 0.01 °C.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66176" y="3621024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22208" y="3840480"/>
            <a:ext cx="310896" cy="310896"/>
          </a:xfrm>
          <a:prstGeom prst="ellipse">
            <a:avLst/>
          </a:prstGeom>
          <a:solidFill>
            <a:srgbClr val="4C6B79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24544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y paso de tiempo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22208" y="427939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 / 12 / 6 / 3 nodos por capa. Δt = 1 s los primeros 5 min, luego 10–30 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7 pasos, cada uno con su prueba.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decisiva es cualitativa: al enfriarse, el máximo de temperatura debe migrar hacia el interior del refractario. Si se queda en la cara caliente, la condición de frontera radiativa está mal.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aquí al 10 de diciembre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 semanas. El levantamiento de datos corre en paralelo desde el día uno: es la ruta crítica.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50001" y="1801368"/>
            <a:ext cx="0" cy="3493008"/>
          </a:xfrm>
          <a:prstGeom prst="line">
            <a:avLst/>
          </a:prstGeom>
          <a:noFill/>
          <a:ln w="12700">
            <a:solidFill>
              <a:srgbClr val="DCD7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9961" y="1453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32032" y="1801368"/>
            <a:ext cx="0" cy="3493008"/>
          </a:xfrm>
          <a:prstGeom prst="line">
            <a:avLst/>
          </a:prstGeom>
          <a:noFill/>
          <a:ln w="12700">
            <a:solidFill>
              <a:srgbClr val="DCD7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11992" y="1453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83044" y="1801368"/>
            <a:ext cx="0" cy="3493008"/>
          </a:xfrm>
          <a:prstGeom prst="line">
            <a:avLst/>
          </a:prstGeom>
          <a:noFill/>
          <a:ln w="12700">
            <a:solidFill>
              <a:srgbClr val="DCD7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63004" y="1453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65076" y="1801368"/>
            <a:ext cx="0" cy="3493008"/>
          </a:xfrm>
          <a:prstGeom prst="line">
            <a:avLst/>
          </a:prstGeom>
          <a:noFill/>
          <a:ln w="12700">
            <a:solidFill>
              <a:srgbClr val="DCD7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45036" y="1453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453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8196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V1 — Transitorio de enfriamiento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finito, implícito, TDMA, radiación de cavidad. Espesor constante.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4760" y="1874520"/>
            <a:ext cx="1943100" cy="329184"/>
          </a:xfrm>
          <a:prstGeom prst="roundRect">
            <a:avLst>
              <a:gd name="adj" fmla="val 13889"/>
            </a:avLst>
          </a:prstGeom>
          <a:solidFill>
            <a:srgbClr val="C43D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231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Levantamiento de datos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26609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faltantes, k del aislante, tiempos reales de planta.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2478024"/>
            <a:ext cx="2914650" cy="329184"/>
          </a:xfrm>
          <a:prstGeom prst="roundRect">
            <a:avLst>
              <a:gd name="adj" fmla="val 13889"/>
            </a:avLst>
          </a:prstGeom>
          <a:solidFill>
            <a:srgbClr val="4C6B7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266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Verificación y calibración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estacionario V0 y contra la coraza medida.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37860" y="3081528"/>
            <a:ext cx="1943100" cy="329184"/>
          </a:xfrm>
          <a:prstGeom prst="roundRect">
            <a:avLst>
              <a:gd name="adj" fmla="val 13889"/>
            </a:avLst>
          </a:prstGeom>
          <a:solidFill>
            <a:srgbClr val="E8A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01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V2 — Precalentamiento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Quemador y criterio de 1100 °C → tiempo mínimo.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3685032"/>
            <a:ext cx="1943100" cy="329184"/>
          </a:xfrm>
          <a:prstGeom prst="roundRect">
            <a:avLst>
              <a:gd name="adj" fmla="val 13889"/>
            </a:avLst>
          </a:prstGeom>
          <a:solidFill>
            <a:srgbClr val="C43D1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336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V3 — Ciclo completo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44714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Coladas encadenadas hasta el estado periódico.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24060" y="4288536"/>
            <a:ext cx="971550" cy="329184"/>
          </a:xfrm>
          <a:prstGeom prst="roundRect">
            <a:avLst>
              <a:gd name="adj" fmla="val 13889"/>
            </a:avLst>
          </a:prstGeom>
          <a:solidFill>
            <a:srgbClr val="C43D1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3717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Reporte y presentación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Documentación, límites declarados, entrega.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95610" y="4892040"/>
            <a:ext cx="728663" cy="329184"/>
          </a:xfrm>
          <a:prstGeom prst="roundRect">
            <a:avLst>
              <a:gd name="adj" fmla="val 13889"/>
            </a:avLst>
          </a:prstGeom>
          <a:solidFill>
            <a:srgbClr val="4A42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678424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806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11680" y="5797296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sep — código verificado contra la solución de sólido semiinfinito   ·   4 oct — k del aislante y duración real del enfriamiento en mano   ·   18 oct — V1 calibrado contra la temperatura de coraza medida   ·   15 nov — curva de tiempo mínimo de precalentamiento   ·   10 dic — entrega final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ruta crítica son los datos, no el código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puede empezar hoy con valores provisionales. Lo que no se puede improvisar es la medición.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2C6E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94560" y="16276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química de las 4 capas cerámicas · ρ y k de seguridad, junta y trabajo (18–19 ago)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4C6B7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25877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cp(T) de las 4 capas por Neumann-Kopp, ±3–5 % · verificado contra Dulong-Petit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8A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35478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k(T) del aislante (0.10 → 0.19 W/m·K) · cp del acero de coraza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C43D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45079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real del enfriamiento y su dispersión · ρ instalada de la junta · espesor de coraza (1.5 mm es atípico)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80760" y="14630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080760" y="4892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Sensibilidad: mover k del aislante de 0.08 a 0.25 W/m·K corre la coraza de 284 a 450 °C y deja la cara caliente prácticamente igual (±2 °C). Por eso k del aislante es el primer parámetro de calibración contra la coraza medida — nunca los espesores ni las duraciones.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55778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1EFE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6112" y="56692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43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pide a planta: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1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k(T) del aislante por ASTM C1113 · rendimiento en kg/m³ de la junta de sello · espesor real de coraza · registro de tiempos de enfriamiento colada por colada.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Veinte referencias verificadas en la carpeta del proyecto. Estas son las que sostienen las decisiones de este plan.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numérico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Patankar (1980) — Numerical Heat Transfer and Fluid Flow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Özışık et al. (2017) — Finite Difference Methods in Heat Transfer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Carslaw &amp; Jaeger (1959) — Conduction of Heat in Solids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Incropera et al. (2011) — Fundamentals of Heat and Mass Transfer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53128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térmicos de olla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53128" y="2212848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Volkova &amp; Janke (2003) — ISIJ Int. 43(8) 1185–1190  ·  patrón a replicar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Glaser, Görnerup &amp; Sichen (2011) — Steel Res. Int. 82(12) 1425–1434  ·  precalentamiento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Fredman (2000) — Scand. J. Metall. 29(6) 232–258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et al. (2008) — JISRI 15(3) 11–14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Mäkelä, Visuri &amp; Fabritius (2023) — Ironmaking &amp; Steelmaking 50(7) 867–877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66176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y criterios de falla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66176" y="2212848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Barin (1995) / NIST-JANAF — coeficientes de Maier-Kelley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C1113 (k) · C20 (ρ, porosidad) · E1269 (cp por DSC)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Kingery (1955) — JACerS 38(1) 3–15  ·  ΔT crítico → rampa máxima</a:t>
            </a:r>
            <a:endParaRPr lang="en-US" sz="11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6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et al. (2020) — Ceramics 3(2) 171–189  ·  apertura de juntas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6025065" cy="292608"/>
          </a:xfrm>
          <a:prstGeom prst="rect">
            <a:avLst/>
          </a:prstGeom>
          <a:solidFill>
            <a:srgbClr val="D64518"/>
          </a:solidFill>
          <a:ln/>
        </p:spPr>
      </p:sp>
      <p:sp>
        <p:nvSpPr>
          <p:cNvPr id="11" name="Shape 9"/>
          <p:cNvSpPr/>
          <p:nvPr/>
        </p:nvSpPr>
        <p:spPr>
          <a:xfrm>
            <a:off x="6665145" y="5623560"/>
            <a:ext cx="593018" cy="292608"/>
          </a:xfrm>
          <a:prstGeom prst="rect">
            <a:avLst/>
          </a:prstGeom>
          <a:solidFill>
            <a:srgbClr val="E07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258163" y="5623560"/>
            <a:ext cx="3605551" cy="292608"/>
          </a:xfrm>
          <a:prstGeom prst="rect">
            <a:avLst/>
          </a:prstGeom>
          <a:solidFill>
            <a:srgbClr val="E8A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63714" y="5623560"/>
            <a:ext cx="616739" cy="292608"/>
          </a:xfrm>
          <a:prstGeom prst="rect">
            <a:avLst/>
          </a:prstGeom>
          <a:solidFill>
            <a:srgbClr val="8FA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80453" y="5623560"/>
            <a:ext cx="71162" cy="292608"/>
          </a:xfrm>
          <a:prstGeom prst="rect">
            <a:avLst/>
          </a:prstGeom>
          <a:solidFill>
            <a:srgbClr val="4C6B7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Adán Molina Martínez  ·  Modelado térmico de ollas  ·  23 de agosto de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térmico transitorio 1D del revestimiento de olla</dc:title>
  <dc:subject>PptxGenJS Presentation</dc:subject>
  <dc:creator>Rodrigo Adán Molina Martínez</dc:creator>
  <cp:lastModifiedBy>Rodrigo Adán Molina Martínez</cp:lastModifiedBy>
  <cp:revision>1</cp:revision>
  <dcterms:created xsi:type="dcterms:W3CDTF">2026-08-23T21:38:31Z</dcterms:created>
  <dcterms:modified xsi:type="dcterms:W3CDTF">2026-08-23T21:38:31Z</dcterms:modified>
</cp:coreProperties>
</file>